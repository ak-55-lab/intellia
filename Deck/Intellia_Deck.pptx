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4.png"/><Relationship Id="rId7" Type="http://schemas.openxmlformats.org/officeDocument/2006/relationships/image" Target="../media/image-3-7.png"/><Relationship Id="rId8" Type="http://schemas.openxmlformats.org/officeDocument/2006/relationships/image" Target="../media/image-3-4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3.png"/><Relationship Id="rId9" Type="http://schemas.openxmlformats.org/officeDocument/2006/relationships/image" Target="../media/image-4-7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1634" y="675742"/>
            <a:ext cx="812902" cy="812902"/>
          </a:xfrm>
          <a:prstGeom prst="star4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617616" y="675742"/>
            <a:ext cx="243870" cy="243870"/>
          </a:xfrm>
          <a:prstGeom prst="star4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638648" y="1223467"/>
            <a:ext cx="203180" cy="203180"/>
          </a:xfrm>
          <a:prstGeom prst="star4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1737360"/>
            <a:ext cx="1219169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Intellia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0" y="2724912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assistant for B2B SaaS revenue teams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0" y="3246120"/>
            <a:ext cx="1219169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5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  ·   13 AUGUST 2026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89608" y="4937760"/>
            <a:ext cx="1234440" cy="438912"/>
          </a:xfrm>
          <a:prstGeom prst="roundRect">
            <a:avLst>
              <a:gd name="adj" fmla="val 50000"/>
            </a:avLst>
          </a:prstGeom>
          <a:solidFill>
            <a:srgbClr val="26375E"/>
          </a:solidFill>
          <a:ln w="12700">
            <a:solidFill>
              <a:srgbClr val="3C528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889608" y="493776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06928" y="4937760"/>
            <a:ext cx="1280160" cy="438912"/>
          </a:xfrm>
          <a:prstGeom prst="roundRect">
            <a:avLst>
              <a:gd name="adj" fmla="val 50000"/>
            </a:avLst>
          </a:prstGeom>
          <a:solidFill>
            <a:srgbClr val="26375E"/>
          </a:solidFill>
          <a:ln w="12700">
            <a:solidFill>
              <a:srgbClr val="3C528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306928" y="493776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69968" y="4937760"/>
            <a:ext cx="1508760" cy="438912"/>
          </a:xfrm>
          <a:prstGeom prst="roundRect">
            <a:avLst>
              <a:gd name="adj" fmla="val 50000"/>
            </a:avLst>
          </a:prstGeom>
          <a:solidFill>
            <a:srgbClr val="26375E"/>
          </a:solidFill>
          <a:ln w="12700">
            <a:solidFill>
              <a:srgbClr val="3C528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69968" y="493776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61608" y="4937760"/>
            <a:ext cx="1691640" cy="438912"/>
          </a:xfrm>
          <a:prstGeom prst="roundRect">
            <a:avLst>
              <a:gd name="adj" fmla="val 50000"/>
            </a:avLst>
          </a:prstGeom>
          <a:solidFill>
            <a:srgbClr val="26375E"/>
          </a:solidFill>
          <a:ln w="12700">
            <a:solidFill>
              <a:srgbClr val="3C5289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61608" y="493776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process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336128" y="4937760"/>
            <a:ext cx="1965960" cy="438912"/>
          </a:xfrm>
          <a:prstGeom prst="roundRect">
            <a:avLst>
              <a:gd name="adj" fmla="val 50000"/>
            </a:avLst>
          </a:prstGeom>
          <a:solidFill>
            <a:srgbClr val="26375E"/>
          </a:solidFill>
          <a:ln w="12700">
            <a:solidFill>
              <a:srgbClr val="3C5289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336128" y="4937760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production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8368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368735" y="256032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1368735" y="256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6372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already exists. The answer does not.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00297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 go-to-market — where a revenue team's truth lives today.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9448" y="1481328"/>
            <a:ext cx="2084832" cy="1170432"/>
          </a:xfrm>
          <a:prstGeom prst="roundRect">
            <a:avLst>
              <a:gd name="adj" fmla="val 6250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pic>
        <p:nvPicPr>
          <p:cNvPr id="8" name="Image 0" descr="/home/claude/assets/icons/c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60934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2600" y="2084832"/>
            <a:ext cx="1938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00888" y="2331720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Deals, stages, close dates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831440" y="1481328"/>
            <a:ext cx="2084832" cy="1170432"/>
          </a:xfrm>
          <a:prstGeom prst="roundRect">
            <a:avLst>
              <a:gd name="adj" fmla="val 6250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pic>
        <p:nvPicPr>
          <p:cNvPr id="12" name="Image 1" descr="/home/claude/assets/icons/em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4400" y="160934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04592" y="2084832"/>
            <a:ext cx="1938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meetings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922880" y="2331720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Threads, notes, who went quiet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053432" y="1481328"/>
            <a:ext cx="2084832" cy="1170432"/>
          </a:xfrm>
          <a:prstGeom prst="roundRect">
            <a:avLst>
              <a:gd name="adj" fmla="val 6250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/home/claude/assets/icons/signa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92" y="160934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26584" y="2084832"/>
            <a:ext cx="1938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signals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5144872" y="2331720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Funding, M&amp;A, intent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7275424" y="1481328"/>
            <a:ext cx="2084832" cy="1170432"/>
          </a:xfrm>
          <a:prstGeom prst="roundRect">
            <a:avLst>
              <a:gd name="adj" fmla="val 6250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/home/claude/assets/icons/targe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8384" y="1609344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48576" y="2084832"/>
            <a:ext cx="1938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7366864" y="2331720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Quota, coverage, attainment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9497416" y="1481328"/>
            <a:ext cx="2084832" cy="1170432"/>
          </a:xfrm>
          <a:prstGeom prst="roundRect">
            <a:avLst>
              <a:gd name="adj" fmla="val 6250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pic>
        <p:nvPicPr>
          <p:cNvPr id="24" name="Image 4" descr="/home/claude/assets/icons/task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0376" y="1609344"/>
            <a:ext cx="438912" cy="43891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570568" y="2084832"/>
            <a:ext cx="19385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9588856" y="2331720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 in five places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457200" y="2816352"/>
            <a:ext cx="11277295" cy="566928"/>
          </a:xfrm>
          <a:prstGeom prst="roundRect">
            <a:avLst>
              <a:gd name="adj" fmla="val 12903"/>
            </a:avLst>
          </a:prstGeom>
          <a:solidFill>
            <a:srgbClr val="1B2A4A"/>
          </a:solidFill>
          <a:ln/>
        </p:spPr>
        <p:txBody>
          <a:bodyPr/>
          <a:p/>
        </p:txBody>
      </p:sp>
      <p:pic>
        <p:nvPicPr>
          <p:cNvPr id="28" name="Image 5" descr="/home/claude/assets/icons/clock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898648"/>
            <a:ext cx="402336" cy="40233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170432" y="2816352"/>
            <a:ext cx="103628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 middle.  </a:t>
            </a:r>
            <a:pPr indent="0" marL="0">
              <a:buNone/>
            </a:pPr>
            <a:r>
              <a:rPr lang="en-US" sz="11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tabs, one spreadsheet export, stitched together by hand before every call and every forecast.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457200" y="3566160"/>
            <a:ext cx="3667658" cy="1417320"/>
          </a:xfrm>
          <a:prstGeom prst="roundRect">
            <a:avLst>
              <a:gd name="adj" fmla="val 5161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pic>
        <p:nvPicPr>
          <p:cNvPr id="31" name="Image 6" descr="/home/claude/assets/icons/clo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3730752"/>
            <a:ext cx="384048" cy="38404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170432" y="3694176"/>
            <a:ext cx="277154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 loses the morning</a:t>
            </a:r>
            <a:endParaRPr lang="en-US" sz="1150" dirty="0"/>
          </a:p>
        </p:txBody>
      </p:sp>
      <p:sp>
        <p:nvSpPr>
          <p:cNvPr id="33" name="Text 24"/>
          <p:cNvSpPr/>
          <p:nvPr/>
        </p:nvSpPr>
        <p:spPr>
          <a:xfrm>
            <a:off x="658368" y="4224528"/>
            <a:ext cx="326532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hour a day rebuilding context, and still no clear answer to which deal needs me today.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4262018" y="3566160"/>
            <a:ext cx="3667658" cy="1417320"/>
          </a:xfrm>
          <a:prstGeom prst="roundRect">
            <a:avLst>
              <a:gd name="adj" fmla="val 5161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pic>
        <p:nvPicPr>
          <p:cNvPr id="35" name="Image 7" descr="/home/claude/assets/icons/trenddow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3186" y="3730752"/>
            <a:ext cx="384048" cy="38404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4975250" y="3694176"/>
            <a:ext cx="277154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 sees risk too late</a:t>
            </a:r>
            <a:endParaRPr lang="en-US" sz="1150" dirty="0"/>
          </a:p>
        </p:txBody>
      </p:sp>
      <p:sp>
        <p:nvSpPr>
          <p:cNvPr id="37" name="Text 27"/>
          <p:cNvSpPr/>
          <p:nvPr/>
        </p:nvSpPr>
        <p:spPr>
          <a:xfrm>
            <a:off x="4463186" y="4224528"/>
            <a:ext cx="326532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Slippage surfaces in week eleven, when the only lever left is the discount.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8066837" y="3566160"/>
            <a:ext cx="3667658" cy="1417320"/>
          </a:xfrm>
          <a:prstGeom prst="roundRect">
            <a:avLst>
              <a:gd name="adj" fmla="val 5161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pic>
        <p:nvPicPr>
          <p:cNvPr id="39" name="Image 8" descr="/home/claude/assets/icons/inbox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8005" y="3730752"/>
            <a:ext cx="384048" cy="384048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8780069" y="3694176"/>
            <a:ext cx="277154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RevOps becomes the queue</a:t>
            </a:r>
            <a:endParaRPr lang="en-US" sz="1150" dirty="0"/>
          </a:p>
        </p:txBody>
      </p:sp>
      <p:sp>
        <p:nvSpPr>
          <p:cNvPr id="41" name="Text 30"/>
          <p:cNvSpPr/>
          <p:nvPr/>
        </p:nvSpPr>
        <p:spPr>
          <a:xfrm>
            <a:off x="8268005" y="4224528"/>
            <a:ext cx="326532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question turns into a report request, so most are never asked.</a:t>
            </a:r>
            <a:endParaRPr lang="en-US" sz="1000" dirty="0"/>
          </a:p>
        </p:txBody>
      </p:sp>
      <p:sp>
        <p:nvSpPr>
          <p:cNvPr id="42" name="Text 31"/>
          <p:cNvSpPr/>
          <p:nvPr/>
        </p:nvSpPr>
        <p:spPr>
          <a:xfrm>
            <a:off x="457200" y="51663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gap is the last mile: turning a question into a trusted answer, and that answer into an action, inside the working day.”</a:t>
            </a:r>
            <a:endParaRPr lang="en-US" sz="1300" dirty="0"/>
          </a:p>
        </p:txBody>
      </p:sp>
      <p:sp>
        <p:nvSpPr>
          <p:cNvPr id="43" name="Text 32"/>
          <p:cNvSpPr/>
          <p:nvPr/>
        </p:nvSpPr>
        <p:spPr>
          <a:xfrm>
            <a:off x="457200" y="658368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</a:t>
            </a:r>
            <a:endParaRPr lang="en-US" sz="800" dirty="0"/>
          </a:p>
        </p:txBody>
      </p:sp>
      <p:sp>
        <p:nvSpPr>
          <p:cNvPr id="44" name="Text 33"/>
          <p:cNvSpPr/>
          <p:nvPr/>
        </p:nvSpPr>
        <p:spPr>
          <a:xfrm>
            <a:off x="8076895" y="658368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368735" y="256032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1368735" y="256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6372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Intellia, the intelligent assistant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00297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workspace where the question, the answer and the action live together.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7295" cy="621792"/>
          </a:xfrm>
          <a:prstGeom prst="roundRect">
            <a:avLst>
              <a:gd name="adj" fmla="val 11765"/>
            </a:avLst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435608"/>
            <a:ext cx="107286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“Which deals slipped this quarter, and what should I do about it today?”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1773936"/>
            <a:ext cx="107286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JUST ASKS   ·   INTELLIA SITS ON TOP OF THE WORK, NOT BESIDE IT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139696"/>
            <a:ext cx="5547208" cy="841248"/>
          </a:xfrm>
          <a:prstGeom prst="roundRect">
            <a:avLst>
              <a:gd name="adj" fmla="val 8696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pic>
        <p:nvPicPr>
          <p:cNvPr id="11" name="Image 0" descr="/home/claude/assets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13432"/>
            <a:ext cx="420624" cy="42062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70432" y="2231136"/>
            <a:ext cx="4632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 that is ranked, not listed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170432" y="2523744"/>
            <a:ext cx="4632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 in one card, ordered by what moves revenue. Every name it uses is checked against a real record first.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6187288" y="2139696"/>
            <a:ext cx="5547208" cy="841248"/>
          </a:xfrm>
          <a:prstGeom prst="roundRect">
            <a:avLst>
              <a:gd name="adj" fmla="val 8696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pic>
        <p:nvPicPr>
          <p:cNvPr id="15" name="Image 1" descr="/home/claude/assets/icons/bar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168" y="2313432"/>
            <a:ext cx="420624" cy="4206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00520" y="2231136"/>
            <a:ext cx="4632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answer with its chart attached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900520" y="2523744"/>
            <a:ext cx="4632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and visual read from the same rows, computed once. Pin it and it keeps itself current.</a:t>
            </a:r>
            <a:endParaRPr lang="en-US" sz="930" dirty="0"/>
          </a:p>
        </p:txBody>
      </p:sp>
      <p:sp>
        <p:nvSpPr>
          <p:cNvPr id="18" name="Text 14"/>
          <p:cNvSpPr/>
          <p:nvPr/>
        </p:nvSpPr>
        <p:spPr>
          <a:xfrm>
            <a:off x="457200" y="3090672"/>
            <a:ext cx="112772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personas ship.  </a:t>
            </a:r>
            <a:pPr algn="ctr"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sees their own book. Manager sees the team roll-up.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09448" y="3383280"/>
            <a:ext cx="2606040" cy="786384"/>
          </a:xfrm>
          <a:prstGeom prst="roundRect">
            <a:avLst>
              <a:gd name="adj" fmla="val 9302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pic>
        <p:nvPicPr>
          <p:cNvPr id="20" name="Image 2" descr="/home/claude/assets/icons/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64" y="3593592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76376" y="3474720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1176376" y="3767328"/>
            <a:ext cx="1929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900" dirty="0"/>
          </a:p>
        </p:txBody>
      </p:sp>
      <p:pic>
        <p:nvPicPr>
          <p:cNvPr id="23" name="Image 3" descr="/home/claude/assets/icons/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8912" y="3648456"/>
            <a:ext cx="256032" cy="25603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3398368" y="3383280"/>
            <a:ext cx="2606040" cy="786384"/>
          </a:xfrm>
          <a:prstGeom prst="roundRect">
            <a:avLst>
              <a:gd name="adj" fmla="val 9302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pic>
        <p:nvPicPr>
          <p:cNvPr id="25" name="Image 4" descr="/home/claude/assets/icons/balan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6384" y="3593592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965296" y="3474720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3965296" y="3767328"/>
            <a:ext cx="1929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deserves today</a:t>
            </a:r>
            <a:endParaRPr lang="en-US" sz="900" dirty="0"/>
          </a:p>
        </p:txBody>
      </p:sp>
      <p:pic>
        <p:nvPicPr>
          <p:cNvPr id="28" name="Image 5" descr="/home/claude/assets/icons/arrow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7832" y="3648456"/>
            <a:ext cx="256032" cy="256032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6187288" y="3383280"/>
            <a:ext cx="2606040" cy="786384"/>
          </a:xfrm>
          <a:prstGeom prst="roundRect">
            <a:avLst>
              <a:gd name="adj" fmla="val 9302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pic>
        <p:nvPicPr>
          <p:cNvPr id="30" name="Image 6" descr="/home/claude/assets/icons/za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5304" y="3593592"/>
            <a:ext cx="365760" cy="36576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754216" y="3474720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50" dirty="0"/>
          </a:p>
        </p:txBody>
      </p:sp>
      <p:sp>
        <p:nvSpPr>
          <p:cNvPr id="32" name="Text 23"/>
          <p:cNvSpPr/>
          <p:nvPr/>
        </p:nvSpPr>
        <p:spPr>
          <a:xfrm>
            <a:off x="6754216" y="3767328"/>
            <a:ext cx="1929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draft, update, schedule — reason shown</a:t>
            </a:r>
            <a:endParaRPr lang="en-US" sz="900" dirty="0"/>
          </a:p>
        </p:txBody>
      </p:sp>
      <p:pic>
        <p:nvPicPr>
          <p:cNvPr id="33" name="Image 7" descr="/home/claude/assets/icons/arrowrigh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56752" y="3648456"/>
            <a:ext cx="256032" cy="256032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8976208" y="3383280"/>
            <a:ext cx="2606040" cy="786384"/>
          </a:xfrm>
          <a:prstGeom prst="roundRect">
            <a:avLst>
              <a:gd name="adj" fmla="val 9302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pic>
        <p:nvPicPr>
          <p:cNvPr id="35" name="Image 8" descr="/home/claude/assets/icons/piechar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4224" y="3593592"/>
            <a:ext cx="365760" cy="36576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543136" y="3474720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150" dirty="0"/>
          </a:p>
        </p:txBody>
      </p:sp>
      <p:sp>
        <p:nvSpPr>
          <p:cNvPr id="37" name="Text 26"/>
          <p:cNvSpPr/>
          <p:nvPr/>
        </p:nvSpPr>
        <p:spPr>
          <a:xfrm>
            <a:off x="9543136" y="3767328"/>
            <a:ext cx="1929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it, keep it live</a:t>
            </a:r>
            <a:endParaRPr lang="en-US" sz="900" dirty="0"/>
          </a:p>
        </p:txBody>
      </p:sp>
      <p:sp>
        <p:nvSpPr>
          <p:cNvPr id="38" name="Shape 27"/>
          <p:cNvSpPr/>
          <p:nvPr/>
        </p:nvSpPr>
        <p:spPr>
          <a:xfrm>
            <a:off x="457200" y="4315968"/>
            <a:ext cx="3667658" cy="640080"/>
          </a:xfrm>
          <a:prstGeom prst="roundRect">
            <a:avLst>
              <a:gd name="adj" fmla="val 11429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pic>
        <p:nvPicPr>
          <p:cNvPr id="39" name="Image 9" descr="/home/claude/assets/icons/hash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504" y="4434840"/>
            <a:ext cx="384048" cy="384048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1060704" y="4389120"/>
            <a:ext cx="29361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invents a number</a:t>
            </a:r>
            <a:endParaRPr lang="en-US" sz="1050" dirty="0"/>
          </a:p>
        </p:txBody>
      </p:sp>
      <p:sp>
        <p:nvSpPr>
          <p:cNvPr id="41" name="Text 29"/>
          <p:cNvSpPr/>
          <p:nvPr/>
        </p:nvSpPr>
        <p:spPr>
          <a:xfrm>
            <a:off x="1060704" y="4636008"/>
            <a:ext cx="293613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comes from SQL, not the model.</a:t>
            </a:r>
            <a:endParaRPr lang="en-US" sz="850" dirty="0"/>
          </a:p>
        </p:txBody>
      </p:sp>
      <p:sp>
        <p:nvSpPr>
          <p:cNvPr id="42" name="Shape 30"/>
          <p:cNvSpPr/>
          <p:nvPr/>
        </p:nvSpPr>
        <p:spPr>
          <a:xfrm>
            <a:off x="4262018" y="4315968"/>
            <a:ext cx="3667658" cy="640080"/>
          </a:xfrm>
          <a:prstGeom prst="roundRect">
            <a:avLst>
              <a:gd name="adj" fmla="val 11429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pic>
        <p:nvPicPr>
          <p:cNvPr id="43" name="Image 10" descr="/home/claude/assets/icons/userchec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08322" y="4434840"/>
            <a:ext cx="384048" cy="384048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4865522" y="4389120"/>
            <a:ext cx="29361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invents an entity</a:t>
            </a:r>
            <a:endParaRPr lang="en-US" sz="1050" dirty="0"/>
          </a:p>
        </p:txBody>
      </p:sp>
      <p:sp>
        <p:nvSpPr>
          <p:cNvPr id="45" name="Text 32"/>
          <p:cNvSpPr/>
          <p:nvPr/>
        </p:nvSpPr>
        <p:spPr>
          <a:xfrm>
            <a:off x="4865522" y="4636008"/>
            <a:ext cx="293613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Unrecognised references are dropped before you see them.</a:t>
            </a:r>
            <a:endParaRPr lang="en-US" sz="850" dirty="0"/>
          </a:p>
        </p:txBody>
      </p:sp>
      <p:sp>
        <p:nvSpPr>
          <p:cNvPr id="46" name="Shape 33"/>
          <p:cNvSpPr/>
          <p:nvPr/>
        </p:nvSpPr>
        <p:spPr>
          <a:xfrm>
            <a:off x="8066837" y="4315968"/>
            <a:ext cx="3667658" cy="640080"/>
          </a:xfrm>
          <a:prstGeom prst="roundRect">
            <a:avLst>
              <a:gd name="adj" fmla="val 11429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pic>
        <p:nvPicPr>
          <p:cNvPr id="47" name="Image 11" descr="/home/claude/assets/icons/lo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13141" y="4434840"/>
            <a:ext cx="384048" cy="384048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8670341" y="4389120"/>
            <a:ext cx="29361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crosses a boundary</a:t>
            </a:r>
            <a:endParaRPr lang="en-US" sz="1050" dirty="0"/>
          </a:p>
        </p:txBody>
      </p:sp>
      <p:sp>
        <p:nvSpPr>
          <p:cNvPr id="49" name="Text 35"/>
          <p:cNvSpPr/>
          <p:nvPr/>
        </p:nvSpPr>
        <p:spPr>
          <a:xfrm>
            <a:off x="8670341" y="4636008"/>
            <a:ext cx="293613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is enforced in the database, not in the prompt.</a:t>
            </a:r>
            <a:endParaRPr lang="en-US" sz="850" dirty="0"/>
          </a:p>
        </p:txBody>
      </p:sp>
      <p:sp>
        <p:nvSpPr>
          <p:cNvPr id="50" name="Text 36"/>
          <p:cNvSpPr/>
          <p:nvPr/>
        </p:nvSpPr>
        <p:spPr>
          <a:xfrm>
            <a:off x="457200" y="5084064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another dashboard to check. A colleague who has already read everything, says what matters, and offers to do the first thing for you.</a:t>
            </a:r>
            <a:endParaRPr lang="en-US" sz="1150" dirty="0"/>
          </a:p>
        </p:txBody>
      </p:sp>
      <p:sp>
        <p:nvSpPr>
          <p:cNvPr id="51" name="Text 37"/>
          <p:cNvSpPr/>
          <p:nvPr/>
        </p:nvSpPr>
        <p:spPr>
          <a:xfrm>
            <a:off x="457200" y="658368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</a:t>
            </a:r>
            <a:endParaRPr lang="en-US" sz="800" dirty="0"/>
          </a:p>
        </p:txBody>
      </p:sp>
      <p:sp>
        <p:nvSpPr>
          <p:cNvPr id="52" name="Text 38"/>
          <p:cNvSpPr/>
          <p:nvPr/>
        </p:nvSpPr>
        <p:spPr>
          <a:xfrm>
            <a:off x="8076895" y="658368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368735" y="256032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1368735" y="256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6372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decisions do most of the work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00297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from the warehouse. Act — and validate — through MCP.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112772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7132" y="1536192"/>
            <a:ext cx="1810512" cy="1051560"/>
          </a:xfrm>
          <a:prstGeom prst="roundRect">
            <a:avLst>
              <a:gd name="adj" fmla="val 6957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pic>
        <p:nvPicPr>
          <p:cNvPr id="9" name="Image 0" descr="/home/claude/assets/icon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20" y="1636776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2852" y="2066544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40284" y="230428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canvas: cards and chat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296516" y="1536192"/>
            <a:ext cx="1810512" cy="1051560"/>
          </a:xfrm>
          <a:prstGeom prst="roundRect">
            <a:avLst>
              <a:gd name="adj" fmla="val 6957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pic>
        <p:nvPicPr>
          <p:cNvPr id="13" name="Image 1" descr="/home/claude/assets/icons/sett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604" y="1636776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342236" y="2066544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369668" y="230428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Brief, prep, ask, actions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4225900" y="1536192"/>
            <a:ext cx="1810512" cy="1051560"/>
          </a:xfrm>
          <a:prstGeom prst="roundRect">
            <a:avLst>
              <a:gd name="adj" fmla="val 6957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/home/claude/assets/icons/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988" y="1636776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271620" y="2066544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299052" y="230428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model tier per task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6155284" y="1536192"/>
            <a:ext cx="1810512" cy="1051560"/>
          </a:xfrm>
          <a:prstGeom prst="roundRect">
            <a:avLst>
              <a:gd name="adj" fmla="val 6957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/home/claude/assets/icons/bookop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9372" y="163677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01004" y="2066544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228436" y="230428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 and examples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8084668" y="1536192"/>
            <a:ext cx="1810512" cy="1051560"/>
          </a:xfrm>
          <a:prstGeom prst="roundRect">
            <a:avLst>
              <a:gd name="adj" fmla="val 6957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pic>
        <p:nvPicPr>
          <p:cNvPr id="25" name="Image 4" descr="/home/claude/assets/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8756" y="1636776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130388" y="2066544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8157820" y="230428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Five-layer SQL sandbox</a:t>
            </a:r>
            <a:endParaRPr lang="en-US" sz="800" dirty="0"/>
          </a:p>
        </p:txBody>
      </p:sp>
      <p:sp>
        <p:nvSpPr>
          <p:cNvPr id="28" name="Shape 21"/>
          <p:cNvSpPr/>
          <p:nvPr/>
        </p:nvSpPr>
        <p:spPr>
          <a:xfrm>
            <a:off x="10014052" y="1536192"/>
            <a:ext cx="1810512" cy="1051560"/>
          </a:xfrm>
          <a:prstGeom prst="roundRect">
            <a:avLst>
              <a:gd name="adj" fmla="val 6957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pic>
        <p:nvPicPr>
          <p:cNvPr id="29" name="Image 5" descr="/home/claude/assets/icons/database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8140" y="1636776"/>
            <a:ext cx="402336" cy="40233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0059772" y="2066544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10087204" y="230428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for reads, MCP for actions</a:t>
            </a:r>
            <a:endParaRPr lang="en-US" sz="800" dirty="0"/>
          </a:p>
        </p:txBody>
      </p:sp>
      <p:sp>
        <p:nvSpPr>
          <p:cNvPr id="32" name="Shape 24"/>
          <p:cNvSpPr/>
          <p:nvPr/>
        </p:nvSpPr>
        <p:spPr>
          <a:xfrm>
            <a:off x="457200" y="2770632"/>
            <a:ext cx="5524348" cy="1481328"/>
          </a:xfrm>
          <a:prstGeom prst="roundRect">
            <a:avLst>
              <a:gd name="adj" fmla="val 4938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sp>
        <p:nvSpPr>
          <p:cNvPr id="33" name="Text 25"/>
          <p:cNvSpPr/>
          <p:nvPr/>
        </p:nvSpPr>
        <p:spPr>
          <a:xfrm>
            <a:off x="694944" y="2898648"/>
            <a:ext cx="50671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1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694944" y="3099816"/>
            <a:ext cx="50671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once, then replay forever</a:t>
            </a:r>
            <a:endParaRPr lang="en-US" sz="1250" dirty="0"/>
          </a:p>
        </p:txBody>
      </p:sp>
      <p:sp>
        <p:nvSpPr>
          <p:cNvPr id="35" name="Shape 27"/>
          <p:cNvSpPr/>
          <p:nvPr/>
        </p:nvSpPr>
        <p:spPr>
          <a:xfrm>
            <a:off x="694944" y="3465576"/>
            <a:ext cx="95856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sp>
        <p:nvSpPr>
          <p:cNvPr id="36" name="Text 28"/>
          <p:cNvSpPr/>
          <p:nvPr/>
        </p:nvSpPr>
        <p:spPr>
          <a:xfrm>
            <a:off x="694944" y="3465576"/>
            <a:ext cx="95856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800" dirty="0"/>
          </a:p>
        </p:txBody>
      </p:sp>
      <p:sp>
        <p:nvSpPr>
          <p:cNvPr id="37" name="Shape 29"/>
          <p:cNvSpPr/>
          <p:nvPr/>
        </p:nvSpPr>
        <p:spPr>
          <a:xfrm>
            <a:off x="1708374" y="3465576"/>
            <a:ext cx="95856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sp>
        <p:nvSpPr>
          <p:cNvPr id="38" name="Text 30"/>
          <p:cNvSpPr/>
          <p:nvPr/>
        </p:nvSpPr>
        <p:spPr>
          <a:xfrm>
            <a:off x="1708374" y="3465576"/>
            <a:ext cx="95856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SQL</a:t>
            </a:r>
            <a:endParaRPr lang="en-US" sz="800" dirty="0"/>
          </a:p>
        </p:txBody>
      </p:sp>
      <p:sp>
        <p:nvSpPr>
          <p:cNvPr id="39" name="Shape 31"/>
          <p:cNvSpPr/>
          <p:nvPr/>
        </p:nvSpPr>
        <p:spPr>
          <a:xfrm>
            <a:off x="2721803" y="3465576"/>
            <a:ext cx="95856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sp>
        <p:nvSpPr>
          <p:cNvPr id="40" name="Text 32"/>
          <p:cNvSpPr/>
          <p:nvPr/>
        </p:nvSpPr>
        <p:spPr>
          <a:xfrm>
            <a:off x="2721803" y="3465576"/>
            <a:ext cx="95856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800" dirty="0"/>
          </a:p>
        </p:txBody>
      </p:sp>
      <p:sp>
        <p:nvSpPr>
          <p:cNvPr id="41" name="Shape 33"/>
          <p:cNvSpPr/>
          <p:nvPr/>
        </p:nvSpPr>
        <p:spPr>
          <a:xfrm>
            <a:off x="3735233" y="3465576"/>
            <a:ext cx="95856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sp>
        <p:nvSpPr>
          <p:cNvPr id="42" name="Text 34"/>
          <p:cNvSpPr/>
          <p:nvPr/>
        </p:nvSpPr>
        <p:spPr>
          <a:xfrm>
            <a:off x="3735233" y="3465576"/>
            <a:ext cx="95856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800" dirty="0"/>
          </a:p>
        </p:txBody>
      </p:sp>
      <p:sp>
        <p:nvSpPr>
          <p:cNvPr id="43" name="Shape 35"/>
          <p:cNvSpPr/>
          <p:nvPr/>
        </p:nvSpPr>
        <p:spPr>
          <a:xfrm>
            <a:off x="4748662" y="3465576"/>
            <a:ext cx="95856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sp>
        <p:nvSpPr>
          <p:cNvPr id="44" name="Text 36"/>
          <p:cNvSpPr/>
          <p:nvPr/>
        </p:nvSpPr>
        <p:spPr>
          <a:xfrm>
            <a:off x="4748662" y="3465576"/>
            <a:ext cx="95856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800" dirty="0"/>
          </a:p>
        </p:txBody>
      </p:sp>
      <p:sp>
        <p:nvSpPr>
          <p:cNvPr id="45" name="Text 37"/>
          <p:cNvSpPr/>
          <p:nvPr/>
        </p:nvSpPr>
        <p:spPr>
          <a:xfrm>
            <a:off x="694944" y="3849624"/>
            <a:ext cx="50671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 and RAG run once against the modeled warehouse. Every later view just replays the saved query — no model call, no drift, no wait.</a:t>
            </a:r>
            <a:endParaRPr lang="en-US" sz="930" dirty="0"/>
          </a:p>
        </p:txBody>
      </p:sp>
      <p:sp>
        <p:nvSpPr>
          <p:cNvPr id="46" name="Shape 38"/>
          <p:cNvSpPr/>
          <p:nvPr/>
        </p:nvSpPr>
        <p:spPr>
          <a:xfrm>
            <a:off x="6210148" y="2770632"/>
            <a:ext cx="5524348" cy="1481328"/>
          </a:xfrm>
          <a:prstGeom prst="roundRect">
            <a:avLst>
              <a:gd name="adj" fmla="val 4938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sp>
        <p:nvSpPr>
          <p:cNvPr id="47" name="Text 39"/>
          <p:cNvSpPr/>
          <p:nvPr/>
        </p:nvSpPr>
        <p:spPr>
          <a:xfrm>
            <a:off x="6447892" y="2898648"/>
            <a:ext cx="50671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2</a:t>
            </a:r>
            <a:endParaRPr lang="en-US" sz="900" dirty="0"/>
          </a:p>
        </p:txBody>
      </p:sp>
      <p:sp>
        <p:nvSpPr>
          <p:cNvPr id="48" name="Text 40"/>
          <p:cNvSpPr/>
          <p:nvPr/>
        </p:nvSpPr>
        <p:spPr>
          <a:xfrm>
            <a:off x="6447892" y="3099816"/>
            <a:ext cx="50671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from the warehouse. Act through MCP.</a:t>
            </a:r>
            <a:endParaRPr lang="en-US" sz="1250" dirty="0"/>
          </a:p>
        </p:txBody>
      </p:sp>
      <p:sp>
        <p:nvSpPr>
          <p:cNvPr id="49" name="Text 41"/>
          <p:cNvSpPr/>
          <p:nvPr/>
        </p:nvSpPr>
        <p:spPr>
          <a:xfrm>
            <a:off x="6447892" y="3447288"/>
            <a:ext cx="50671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 and RAG work best against modeled warehouse data — not the messy reality of operational systems. Reads and briefs come from the warehouse.</a:t>
            </a:r>
            <a:endParaRPr lang="en-US" sz="930" dirty="0"/>
          </a:p>
        </p:txBody>
      </p:sp>
      <p:pic>
        <p:nvPicPr>
          <p:cNvPr id="50" name="Image 6" descr="/home/claude/assets/icons/checkcircle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7892" y="3941064"/>
            <a:ext cx="310896" cy="310896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6850228" y="3931920"/>
            <a:ext cx="46099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goes through MCP, which re-checks the live record before it fires.</a:t>
            </a:r>
            <a:endParaRPr lang="en-US" sz="930" dirty="0"/>
          </a:p>
        </p:txBody>
      </p:sp>
      <p:sp>
        <p:nvSpPr>
          <p:cNvPr id="52" name="Shape 43"/>
          <p:cNvSpPr/>
          <p:nvPr/>
        </p:nvSpPr>
        <p:spPr>
          <a:xfrm>
            <a:off x="457200" y="4434840"/>
            <a:ext cx="2145731" cy="1078992"/>
          </a:xfrm>
          <a:prstGeom prst="roundRect">
            <a:avLst>
              <a:gd name="adj" fmla="val 6780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pic>
        <p:nvPicPr>
          <p:cNvPr id="53" name="Image 7" descr="/home/claude/assets/icons/cpu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7186" y="4526280"/>
            <a:ext cx="365760" cy="365760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530352" y="4928616"/>
            <a:ext cx="199942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text-to-SQL</a:t>
            </a:r>
            <a:endParaRPr lang="en-US" sz="980" dirty="0"/>
          </a:p>
        </p:txBody>
      </p:sp>
      <p:sp>
        <p:nvSpPr>
          <p:cNvPr id="55" name="Text 45"/>
          <p:cNvSpPr/>
          <p:nvPr/>
        </p:nvSpPr>
        <p:spPr>
          <a:xfrm>
            <a:off x="548640" y="5184648"/>
            <a:ext cx="196285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warehouse data, not messy operational noise</a:t>
            </a:r>
            <a:endParaRPr lang="en-US" sz="750" dirty="0"/>
          </a:p>
        </p:txBody>
      </p:sp>
      <p:sp>
        <p:nvSpPr>
          <p:cNvPr id="56" name="Shape 46"/>
          <p:cNvSpPr/>
          <p:nvPr/>
        </p:nvSpPr>
        <p:spPr>
          <a:xfrm>
            <a:off x="2740091" y="4434840"/>
            <a:ext cx="2145731" cy="1078992"/>
          </a:xfrm>
          <a:prstGeom prst="roundRect">
            <a:avLst>
              <a:gd name="adj" fmla="val 6780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pic>
        <p:nvPicPr>
          <p:cNvPr id="57" name="Image 8" descr="/home/claude/assets/icons/checkcircle_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0077" y="4526280"/>
            <a:ext cx="365760" cy="365760"/>
          </a:xfrm>
          <a:prstGeom prst="rect">
            <a:avLst/>
          </a:prstGeom>
        </p:spPr>
      </p:pic>
      <p:sp>
        <p:nvSpPr>
          <p:cNvPr id="58" name="Text 47"/>
          <p:cNvSpPr/>
          <p:nvPr/>
        </p:nvSpPr>
        <p:spPr>
          <a:xfrm>
            <a:off x="2813243" y="4928616"/>
            <a:ext cx="199942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acts on stale data</a:t>
            </a:r>
            <a:endParaRPr lang="en-US" sz="980" dirty="0"/>
          </a:p>
        </p:txBody>
      </p:sp>
      <p:sp>
        <p:nvSpPr>
          <p:cNvPr id="59" name="Text 48"/>
          <p:cNvSpPr/>
          <p:nvPr/>
        </p:nvSpPr>
        <p:spPr>
          <a:xfrm>
            <a:off x="2831531" y="5184648"/>
            <a:ext cx="196285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re-checks the live record before it fires</a:t>
            </a:r>
            <a:endParaRPr lang="en-US" sz="750" dirty="0"/>
          </a:p>
        </p:txBody>
      </p:sp>
      <p:sp>
        <p:nvSpPr>
          <p:cNvPr id="60" name="Shape 49"/>
          <p:cNvSpPr/>
          <p:nvPr/>
        </p:nvSpPr>
        <p:spPr>
          <a:xfrm>
            <a:off x="5022982" y="4434840"/>
            <a:ext cx="2145731" cy="1078992"/>
          </a:xfrm>
          <a:prstGeom prst="roundRect">
            <a:avLst>
              <a:gd name="adj" fmla="val 6780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pic>
        <p:nvPicPr>
          <p:cNvPr id="61" name="Image 9" descr="/home/claude/assets/icons/repeat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12968" y="4526280"/>
            <a:ext cx="365760" cy="365760"/>
          </a:xfrm>
          <a:prstGeom prst="rect">
            <a:avLst/>
          </a:prstGeom>
        </p:spPr>
      </p:pic>
      <p:sp>
        <p:nvSpPr>
          <p:cNvPr id="62" name="Text 50"/>
          <p:cNvSpPr/>
          <p:nvPr/>
        </p:nvSpPr>
        <p:spPr>
          <a:xfrm>
            <a:off x="5096134" y="4928616"/>
            <a:ext cx="199942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call, ever</a:t>
            </a:r>
            <a:endParaRPr lang="en-US" sz="980" dirty="0"/>
          </a:p>
        </p:txBody>
      </p:sp>
      <p:sp>
        <p:nvSpPr>
          <p:cNvPr id="63" name="Text 51"/>
          <p:cNvSpPr/>
          <p:nvPr/>
        </p:nvSpPr>
        <p:spPr>
          <a:xfrm>
            <a:off x="5114422" y="5184648"/>
            <a:ext cx="196285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per viewer, per day</a:t>
            </a:r>
            <a:endParaRPr lang="en-US" sz="750" dirty="0"/>
          </a:p>
        </p:txBody>
      </p:sp>
      <p:sp>
        <p:nvSpPr>
          <p:cNvPr id="64" name="Shape 52"/>
          <p:cNvSpPr/>
          <p:nvPr/>
        </p:nvSpPr>
        <p:spPr>
          <a:xfrm>
            <a:off x="7305873" y="4434840"/>
            <a:ext cx="2145731" cy="1078992"/>
          </a:xfrm>
          <a:prstGeom prst="roundRect">
            <a:avLst>
              <a:gd name="adj" fmla="val 6780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pic>
        <p:nvPicPr>
          <p:cNvPr id="65" name="Image 10" descr="/home/claude/assets/icons/checkcircl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95859" y="4526280"/>
            <a:ext cx="365760" cy="365760"/>
          </a:xfrm>
          <a:prstGeom prst="rect">
            <a:avLst/>
          </a:prstGeom>
        </p:spPr>
      </p:pic>
      <p:sp>
        <p:nvSpPr>
          <p:cNvPr id="66" name="Text 53"/>
          <p:cNvSpPr/>
          <p:nvPr/>
        </p:nvSpPr>
        <p:spPr>
          <a:xfrm>
            <a:off x="7379025" y="4928616"/>
            <a:ext cx="199942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answer tomorrow</a:t>
            </a:r>
            <a:endParaRPr lang="en-US" sz="980" dirty="0"/>
          </a:p>
        </p:txBody>
      </p:sp>
      <p:sp>
        <p:nvSpPr>
          <p:cNvPr id="67" name="Text 54"/>
          <p:cNvSpPr/>
          <p:nvPr/>
        </p:nvSpPr>
        <p:spPr>
          <a:xfrm>
            <a:off x="7397313" y="5184648"/>
            <a:ext cx="196285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you can quote</a:t>
            </a:r>
            <a:endParaRPr lang="en-US" sz="750" dirty="0"/>
          </a:p>
        </p:txBody>
      </p:sp>
      <p:sp>
        <p:nvSpPr>
          <p:cNvPr id="68" name="Shape 55"/>
          <p:cNvSpPr/>
          <p:nvPr/>
        </p:nvSpPr>
        <p:spPr>
          <a:xfrm>
            <a:off x="9588764" y="4434840"/>
            <a:ext cx="2145731" cy="1078992"/>
          </a:xfrm>
          <a:prstGeom prst="roundRect">
            <a:avLst>
              <a:gd name="adj" fmla="val 6780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pic>
        <p:nvPicPr>
          <p:cNvPr id="69" name="Image 11" descr="/home/claude/assets/icons/cloudoff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78750" y="4526280"/>
            <a:ext cx="365760" cy="365760"/>
          </a:xfrm>
          <a:prstGeom prst="rect">
            <a:avLst/>
          </a:prstGeom>
        </p:spPr>
      </p:pic>
      <p:sp>
        <p:nvSpPr>
          <p:cNvPr id="70" name="Text 56"/>
          <p:cNvSpPr/>
          <p:nvPr/>
        </p:nvSpPr>
        <p:spPr>
          <a:xfrm>
            <a:off x="9661916" y="4928616"/>
            <a:ext cx="199942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an outage</a:t>
            </a:r>
            <a:endParaRPr lang="en-US" sz="980" dirty="0"/>
          </a:p>
        </p:txBody>
      </p:sp>
      <p:sp>
        <p:nvSpPr>
          <p:cNvPr id="71" name="Text 57"/>
          <p:cNvSpPr/>
          <p:nvPr/>
        </p:nvSpPr>
        <p:spPr>
          <a:xfrm>
            <a:off x="9680204" y="5184648"/>
            <a:ext cx="196285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with the model off</a:t>
            </a:r>
            <a:endParaRPr lang="en-US" sz="750" dirty="0"/>
          </a:p>
        </p:txBody>
      </p:sp>
      <p:sp>
        <p:nvSpPr>
          <p:cNvPr id="72" name="Shape 58"/>
          <p:cNvSpPr/>
          <p:nvPr/>
        </p:nvSpPr>
        <p:spPr>
          <a:xfrm>
            <a:off x="457200" y="5660136"/>
            <a:ext cx="11277295" cy="54864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/>
        </p:spPr>
        <p:txBody>
          <a:bodyPr/>
          <a:p/>
        </p:txBody>
      </p:sp>
      <p:pic>
        <p:nvPicPr>
          <p:cNvPr id="73" name="Image 12" descr="/home/claude/assets/icons/warning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368" y="5742432"/>
            <a:ext cx="384048" cy="384048"/>
          </a:xfrm>
          <a:prstGeom prst="rect">
            <a:avLst/>
          </a:prstGeom>
        </p:spPr>
      </p:pic>
      <p:sp>
        <p:nvSpPr>
          <p:cNvPr id="74" name="Text 59"/>
          <p:cNvSpPr/>
          <p:nvPr/>
        </p:nvSpPr>
        <p:spPr>
          <a:xfrm>
            <a:off x="1170432" y="5660136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limit.  </a:t>
            </a:r>
            <a:pPr indent="0" marL="0">
              <a:buNone/>
            </a:pPr>
            <a:r>
              <a:rPr lang="en-US" sz="10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warehouse read can lag the live system by a refresh cycle. Actions never do — MCP checks the record the instant before it fires.</a:t>
            </a:r>
            <a:endParaRPr lang="en-US" sz="1050" dirty="0"/>
          </a:p>
        </p:txBody>
      </p:sp>
      <p:sp>
        <p:nvSpPr>
          <p:cNvPr id="75" name="Text 60"/>
          <p:cNvSpPr/>
          <p:nvPr/>
        </p:nvSpPr>
        <p:spPr>
          <a:xfrm>
            <a:off x="457200" y="658368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</a:t>
            </a:r>
            <a:endParaRPr lang="en-US" sz="800" dirty="0"/>
          </a:p>
        </p:txBody>
      </p:sp>
      <p:sp>
        <p:nvSpPr>
          <p:cNvPr id="76" name="Text 61"/>
          <p:cNvSpPr/>
          <p:nvPr/>
        </p:nvSpPr>
        <p:spPr>
          <a:xfrm>
            <a:off x="8076895" y="658368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BUILT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368735" y="256032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1368735" y="256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6372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first, specify carefully, then let the coding agent do the typing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67132" y="1371600"/>
            <a:ext cx="1810512" cy="1691640"/>
          </a:xfrm>
          <a:prstGeom prst="roundRect">
            <a:avLst>
              <a:gd name="adj" fmla="val 4324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40284" y="1490472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800" dirty="0"/>
          </a:p>
        </p:txBody>
      </p:sp>
      <p:pic>
        <p:nvPicPr>
          <p:cNvPr id="8" name="Image 0" descr="/home/claude/assets/icons/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500" y="1700784"/>
            <a:ext cx="493776" cy="4937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40284" y="2267712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8572" y="2615184"/>
            <a:ext cx="1627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is for, the question, the action it ends in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296516" y="1371600"/>
            <a:ext cx="1810512" cy="1691640"/>
          </a:xfrm>
          <a:prstGeom prst="roundRect">
            <a:avLst>
              <a:gd name="adj" fmla="val 4324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2369668" y="1490472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800" dirty="0"/>
          </a:p>
        </p:txBody>
      </p:sp>
      <p:pic>
        <p:nvPicPr>
          <p:cNvPr id="13" name="Image 1" descr="/home/claude/assets/icons/layo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4884" y="1700784"/>
            <a:ext cx="493776" cy="4937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369668" y="2267712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in Stitch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387956" y="2615184"/>
            <a:ext cx="1627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before code, while change was still cheap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225900" y="1371600"/>
            <a:ext cx="1810512" cy="1691640"/>
          </a:xfrm>
          <a:prstGeom prst="roundRect">
            <a:avLst>
              <a:gd name="adj" fmla="val 4324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4299052" y="1490472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800" dirty="0"/>
          </a:p>
        </p:txBody>
      </p:sp>
      <p:pic>
        <p:nvPicPr>
          <p:cNvPr id="18" name="Image 2" descr="/home/claude/assets/icons/filetex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4268" y="1700784"/>
            <a:ext cx="493776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299052" y="2267712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with ChatGPT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317340" y="2615184"/>
            <a:ext cx="1627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sketch became a real specification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6155284" y="1371600"/>
            <a:ext cx="1810512" cy="1691640"/>
          </a:xfrm>
          <a:prstGeom prst="roundRect">
            <a:avLst>
              <a:gd name="adj" fmla="val 4324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sp>
        <p:nvSpPr>
          <p:cNvPr id="22" name="Text 17"/>
          <p:cNvSpPr/>
          <p:nvPr/>
        </p:nvSpPr>
        <p:spPr>
          <a:xfrm>
            <a:off x="6228436" y="1490472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800" dirty="0"/>
          </a:p>
        </p:txBody>
      </p:sp>
      <p:pic>
        <p:nvPicPr>
          <p:cNvPr id="23" name="Image 3" descr="/home/claude/assets/icons/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3652" y="1700784"/>
            <a:ext cx="493776" cy="49377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28436" y="2267712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Claude Code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246724" y="2615184"/>
            <a:ext cx="1627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to app: data, services, screens, tests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8084668" y="1371600"/>
            <a:ext cx="1810512" cy="1691640"/>
          </a:xfrm>
          <a:prstGeom prst="roundRect">
            <a:avLst>
              <a:gd name="adj" fmla="val 4324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sp>
        <p:nvSpPr>
          <p:cNvPr id="27" name="Text 21"/>
          <p:cNvSpPr/>
          <p:nvPr/>
        </p:nvSpPr>
        <p:spPr>
          <a:xfrm>
            <a:off x="8157820" y="1490472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800" dirty="0"/>
          </a:p>
        </p:txBody>
      </p:sp>
      <p:pic>
        <p:nvPicPr>
          <p:cNvPr id="28" name="Image 4" descr="/home/claude/assets/icons/refre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3036" y="1700784"/>
            <a:ext cx="493776" cy="49377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157820" y="2267712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iterations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8176108" y="2615184"/>
            <a:ext cx="1627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it, fix it, lock it with a test</a:t>
            </a:r>
            <a:endParaRPr lang="en-US" sz="850" dirty="0"/>
          </a:p>
        </p:txBody>
      </p:sp>
      <p:sp>
        <p:nvSpPr>
          <p:cNvPr id="31" name="Shape 24"/>
          <p:cNvSpPr/>
          <p:nvPr/>
        </p:nvSpPr>
        <p:spPr>
          <a:xfrm>
            <a:off x="10014052" y="1371600"/>
            <a:ext cx="1810512" cy="1691640"/>
          </a:xfrm>
          <a:prstGeom prst="roundRect">
            <a:avLst>
              <a:gd name="adj" fmla="val 4324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sp>
        <p:nvSpPr>
          <p:cNvPr id="32" name="Text 25"/>
          <p:cNvSpPr/>
          <p:nvPr/>
        </p:nvSpPr>
        <p:spPr>
          <a:xfrm>
            <a:off x="10087204" y="1490472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800" dirty="0"/>
          </a:p>
        </p:txBody>
      </p:sp>
      <p:pic>
        <p:nvPicPr>
          <p:cNvPr id="33" name="Image 5" descr="/home/claude/assets/icons/checksqua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2420" y="1700784"/>
            <a:ext cx="493776" cy="49377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0087204" y="2267712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10105492" y="2615184"/>
            <a:ext cx="1627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path per feature, then written down</a:t>
            </a:r>
            <a:endParaRPr lang="en-US" sz="850" dirty="0"/>
          </a:p>
        </p:txBody>
      </p:sp>
      <p:sp>
        <p:nvSpPr>
          <p:cNvPr id="36" name="Shape 28"/>
          <p:cNvSpPr/>
          <p:nvPr/>
        </p:nvSpPr>
        <p:spPr>
          <a:xfrm>
            <a:off x="457200" y="3264408"/>
            <a:ext cx="2109155" cy="868680"/>
          </a:xfrm>
          <a:prstGeom prst="roundRect">
            <a:avLst>
              <a:gd name="adj" fmla="val 8421"/>
            </a:avLst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37" name="Text 29"/>
          <p:cNvSpPr/>
          <p:nvPr/>
        </p:nvSpPr>
        <p:spPr>
          <a:xfrm>
            <a:off x="512064" y="3355848"/>
            <a:ext cx="199942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~11,600</a:t>
            </a:r>
            <a:endParaRPr lang="en-US" sz="2100" dirty="0"/>
          </a:p>
        </p:txBody>
      </p:sp>
      <p:sp>
        <p:nvSpPr>
          <p:cNvPr id="38" name="Text 30"/>
          <p:cNvSpPr/>
          <p:nvPr/>
        </p:nvSpPr>
        <p:spPr>
          <a:xfrm>
            <a:off x="512064" y="3794760"/>
            <a:ext cx="199942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Python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2749235" y="3264408"/>
            <a:ext cx="2109155" cy="868680"/>
          </a:xfrm>
          <a:prstGeom prst="roundRect">
            <a:avLst>
              <a:gd name="adj" fmla="val 8421"/>
            </a:avLst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40" name="Text 32"/>
          <p:cNvSpPr/>
          <p:nvPr/>
        </p:nvSpPr>
        <p:spPr>
          <a:xfrm>
            <a:off x="2804099" y="3355848"/>
            <a:ext cx="199942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163</a:t>
            </a:r>
            <a:endParaRPr lang="en-US" sz="2100" dirty="0"/>
          </a:p>
        </p:txBody>
      </p:sp>
      <p:sp>
        <p:nvSpPr>
          <p:cNvPr id="41" name="Text 33"/>
          <p:cNvSpPr/>
          <p:nvPr/>
        </p:nvSpPr>
        <p:spPr>
          <a:xfrm>
            <a:off x="2804099" y="3794760"/>
            <a:ext cx="199942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5041270" y="3264408"/>
            <a:ext cx="2109155" cy="868680"/>
          </a:xfrm>
          <a:prstGeom prst="roundRect">
            <a:avLst>
              <a:gd name="adj" fmla="val 8421"/>
            </a:avLst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43" name="Text 35"/>
          <p:cNvSpPr/>
          <p:nvPr/>
        </p:nvSpPr>
        <p:spPr>
          <a:xfrm>
            <a:off x="5096134" y="3355848"/>
            <a:ext cx="199942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100" dirty="0"/>
          </a:p>
        </p:txBody>
      </p:sp>
      <p:sp>
        <p:nvSpPr>
          <p:cNvPr id="44" name="Text 36"/>
          <p:cNvSpPr/>
          <p:nvPr/>
        </p:nvSpPr>
        <p:spPr>
          <a:xfrm>
            <a:off x="5096134" y="3794760"/>
            <a:ext cx="199942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insight cards</a:t>
            </a:r>
            <a:endParaRPr lang="en-US" sz="900" dirty="0"/>
          </a:p>
        </p:txBody>
      </p:sp>
      <p:sp>
        <p:nvSpPr>
          <p:cNvPr id="45" name="Shape 37"/>
          <p:cNvSpPr/>
          <p:nvPr/>
        </p:nvSpPr>
        <p:spPr>
          <a:xfrm>
            <a:off x="7333305" y="3264408"/>
            <a:ext cx="2109155" cy="868680"/>
          </a:xfrm>
          <a:prstGeom prst="roundRect">
            <a:avLst>
              <a:gd name="adj" fmla="val 8421"/>
            </a:avLst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46" name="Text 38"/>
          <p:cNvSpPr/>
          <p:nvPr/>
        </p:nvSpPr>
        <p:spPr>
          <a:xfrm>
            <a:off x="7388169" y="3355848"/>
            <a:ext cx="199942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47" name="Text 39"/>
          <p:cNvSpPr/>
          <p:nvPr/>
        </p:nvSpPr>
        <p:spPr>
          <a:xfrm>
            <a:off x="7388169" y="3794760"/>
            <a:ext cx="199942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personas, no branching</a:t>
            </a:r>
            <a:endParaRPr lang="en-US" sz="900" dirty="0"/>
          </a:p>
        </p:txBody>
      </p:sp>
      <p:sp>
        <p:nvSpPr>
          <p:cNvPr id="48" name="Shape 40"/>
          <p:cNvSpPr/>
          <p:nvPr/>
        </p:nvSpPr>
        <p:spPr>
          <a:xfrm>
            <a:off x="9625340" y="3264408"/>
            <a:ext cx="2109155" cy="868680"/>
          </a:xfrm>
          <a:prstGeom prst="roundRect">
            <a:avLst>
              <a:gd name="adj" fmla="val 8421"/>
            </a:avLst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49" name="Text 41"/>
          <p:cNvSpPr/>
          <p:nvPr/>
        </p:nvSpPr>
        <p:spPr>
          <a:xfrm>
            <a:off x="9680204" y="3355848"/>
            <a:ext cx="199942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2–3</a:t>
            </a:r>
            <a:endParaRPr lang="en-US" sz="2100" dirty="0"/>
          </a:p>
        </p:txBody>
      </p:sp>
      <p:sp>
        <p:nvSpPr>
          <p:cNvPr id="50" name="Text 42"/>
          <p:cNvSpPr/>
          <p:nvPr/>
        </p:nvSpPr>
        <p:spPr>
          <a:xfrm>
            <a:off x="9680204" y="3794760"/>
            <a:ext cx="199942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hours, part time</a:t>
            </a:r>
            <a:endParaRPr lang="en-US" sz="900" dirty="0"/>
          </a:p>
        </p:txBody>
      </p:sp>
      <p:sp>
        <p:nvSpPr>
          <p:cNvPr id="51" name="Shape 43"/>
          <p:cNvSpPr/>
          <p:nvPr/>
        </p:nvSpPr>
        <p:spPr>
          <a:xfrm>
            <a:off x="457200" y="4315968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EDF1FA"/>
          </a:solidFill>
          <a:ln w="12700">
            <a:solidFill>
              <a:srgbClr val="DCE4F3"/>
            </a:solidFill>
            <a:prstDash val="solid"/>
          </a:ln>
        </p:spPr>
        <p:txBody>
          <a:bodyPr/>
          <a:p/>
        </p:txBody>
      </p:sp>
      <p:pic>
        <p:nvPicPr>
          <p:cNvPr id="52" name="Image 6" descr="/home/claude/assets/icons/warnin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443984"/>
            <a:ext cx="384048" cy="384048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1152144" y="4315968"/>
            <a:ext cx="1036289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 — the data in this build is mocked.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account, deal, email and meeting is synthetic. No customer data, no production system, no live integration. Every action is simulated: nothing is ever sent.</a:t>
            </a:r>
            <a:endParaRPr lang="en-US" sz="950" dirty="0"/>
          </a:p>
        </p:txBody>
      </p:sp>
      <p:sp>
        <p:nvSpPr>
          <p:cNvPr id="54" name="Text 45"/>
          <p:cNvSpPr/>
          <p:nvPr/>
        </p:nvSpPr>
        <p:spPr>
          <a:xfrm>
            <a:off x="457200" y="5120640"/>
            <a:ext cx="112772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leverage was not typing faster. It was writing the specification well, then holding the agent to it with tests.</a:t>
            </a:r>
            <a:endParaRPr lang="en-US" sz="1250" dirty="0"/>
          </a:p>
        </p:txBody>
      </p:sp>
      <p:sp>
        <p:nvSpPr>
          <p:cNvPr id="55" name="Text 46"/>
          <p:cNvSpPr/>
          <p:nvPr/>
        </p:nvSpPr>
        <p:spPr>
          <a:xfrm>
            <a:off x="457200" y="658368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</a:t>
            </a:r>
            <a:endParaRPr lang="en-US" sz="800" dirty="0"/>
          </a:p>
        </p:txBody>
      </p:sp>
      <p:sp>
        <p:nvSpPr>
          <p:cNvPr id="56" name="Text 47"/>
          <p:cNvSpPr/>
          <p:nvPr/>
        </p:nvSpPr>
        <p:spPr>
          <a:xfrm>
            <a:off x="8076895" y="658368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built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PRODUCTION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368735" y="256032"/>
            <a:ext cx="365760" cy="365760"/>
          </a:xfrm>
          <a:prstGeom prst="ellipse">
            <a:avLst/>
          </a:prstGeom>
          <a:solidFill>
            <a:srgbClr val="26375E"/>
          </a:solidFill>
          <a:ln w="12700">
            <a:solidFill>
              <a:srgbClr val="3C5289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1368735" y="256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06372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deliberately light in the prototype, and what enterprise-grade looks like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112772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changes the architecture. Each row is a swap at a boundary that already exists: a connector, a provider, a policy hook.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41248" y="1517904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0" y="1517904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TODAY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89320" y="1517904"/>
            <a:ext cx="57451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64792"/>
            <a:ext cx="11277295" cy="534924"/>
          </a:xfrm>
          <a:prstGeom prst="roundRect">
            <a:avLst>
              <a:gd name="adj" fmla="val 5128"/>
            </a:avLst>
          </a:prstGeom>
          <a:solidFill>
            <a:srgbClr val="26375E"/>
          </a:solidFill>
          <a:ln/>
        </p:spPr>
        <p:txBody>
          <a:bodyPr/>
          <a:p/>
        </p:txBody>
      </p:sp>
      <p:pic>
        <p:nvPicPr>
          <p:cNvPr id="11" name="Image 0" descr="/home/claude/assets/icons/databas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41248" y="1810512"/>
            <a:ext cx="1865376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integration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743200" y="1810512"/>
            <a:ext cx="310896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seed files in a local database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89320" y="1810512"/>
            <a:ext cx="5653735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warehouse for reads, live MCP connectors for actions and validation</a:t>
            </a:r>
            <a:endParaRPr lang="en-US" sz="1000" dirty="0"/>
          </a:p>
        </p:txBody>
      </p:sp>
      <p:pic>
        <p:nvPicPr>
          <p:cNvPr id="15" name="Image 1" descr="/home/claude/assets/icons/lock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63724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41248" y="2345436"/>
            <a:ext cx="1865376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743200" y="2345436"/>
            <a:ext cx="310896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sign-in, two demo personas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989320" y="2345436"/>
            <a:ext cx="5653735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SSO, role-based access, row-level security inherited from the source, audit trail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57200" y="2834640"/>
            <a:ext cx="11277295" cy="534924"/>
          </a:xfrm>
          <a:prstGeom prst="roundRect">
            <a:avLst>
              <a:gd name="adj" fmla="val 5128"/>
            </a:avLst>
          </a:prstGeom>
          <a:solidFill>
            <a:srgbClr val="26375E"/>
          </a:solidFill>
          <a:ln/>
        </p:spPr>
        <p:txBody>
          <a:bodyPr/>
          <a:p/>
        </p:txBody>
      </p:sp>
      <p:pic>
        <p:nvPicPr>
          <p:cNvPr id="20" name="Image 2" descr="/home/claude/assets/icons/clou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98648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1248" y="2880360"/>
            <a:ext cx="1865376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&amp; operations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2743200" y="2880360"/>
            <a:ext cx="310896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one user at a time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989320" y="2880360"/>
            <a:ext cx="5653735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or inside the customer network, containerised, managed secrets, monitoring</a:t>
            </a:r>
            <a:endParaRPr lang="en-US" sz="1000" dirty="0"/>
          </a:p>
        </p:txBody>
      </p:sp>
      <p:pic>
        <p:nvPicPr>
          <p:cNvPr id="24" name="Image 3" descr="/home/claude/assets/icons/users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33572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41248" y="3415284"/>
            <a:ext cx="1865376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scope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2743200" y="3415284"/>
            <a:ext cx="310896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 the rep and their manager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989320" y="3415284"/>
            <a:ext cx="5653735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go-to-market team, added as personas and card sets rather than new code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57200" y="3904488"/>
            <a:ext cx="11277295" cy="534924"/>
          </a:xfrm>
          <a:prstGeom prst="roundRect">
            <a:avLst>
              <a:gd name="adj" fmla="val 5128"/>
            </a:avLst>
          </a:prstGeom>
          <a:solidFill>
            <a:srgbClr val="26375E"/>
          </a:solidFill>
          <a:ln/>
        </p:spPr>
        <p:txBody>
          <a:bodyPr/>
          <a:p/>
        </p:txBody>
      </p:sp>
      <p:pic>
        <p:nvPicPr>
          <p:cNvPr id="29" name="Image 4" descr="/home/claude/assets/icons/cpu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968496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41248" y="3950208"/>
            <a:ext cx="1865376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capability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2743200" y="3950208"/>
            <a:ext cx="310896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skills, execution simulated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5989320" y="3950208"/>
            <a:ext cx="5653735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tool servers over MCP, approval before anything sends, and an undo behind it</a:t>
            </a:r>
            <a:endParaRPr lang="en-US" sz="1000" dirty="0"/>
          </a:p>
        </p:txBody>
      </p:sp>
      <p:pic>
        <p:nvPicPr>
          <p:cNvPr id="33" name="Image 5" descr="/home/claude/assets/icons/shield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503420"/>
            <a:ext cx="365760" cy="36576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41248" y="4485132"/>
            <a:ext cx="1865376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guardrails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2743200" y="4485132"/>
            <a:ext cx="310896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sandbox and persona scoping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5989320" y="4485132"/>
            <a:ext cx="5653735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masking, prompt-injection defence, output validation, rate and cost ceilings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457200" y="4974336"/>
            <a:ext cx="11277295" cy="534924"/>
          </a:xfrm>
          <a:prstGeom prst="roundRect">
            <a:avLst>
              <a:gd name="adj" fmla="val 5128"/>
            </a:avLst>
          </a:prstGeom>
          <a:solidFill>
            <a:srgbClr val="26375E"/>
          </a:solidFill>
          <a:ln/>
        </p:spPr>
        <p:txBody>
          <a:bodyPr/>
          <a:p/>
        </p:txBody>
      </p:sp>
      <p:pic>
        <p:nvPicPr>
          <p:cNvPr id="38" name="Image 6" descr="/home/claude/assets/icons/checkcircle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5038344"/>
            <a:ext cx="365760" cy="36576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841248" y="5020056"/>
            <a:ext cx="1865376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evaluation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2743200" y="5020056"/>
            <a:ext cx="310896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over text to SQL</a:t>
            </a:r>
            <a:endParaRPr lang="en-US" sz="1000" dirty="0"/>
          </a:p>
        </p:txBody>
      </p:sp>
      <p:sp>
        <p:nvSpPr>
          <p:cNvPr id="41" name="Text 32"/>
          <p:cNvSpPr/>
          <p:nvPr/>
        </p:nvSpPr>
        <p:spPr>
          <a:xfrm>
            <a:off x="5989320" y="5020056"/>
            <a:ext cx="5653735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question set scored on every change, regression gates in CI, tracing, user feedback</a:t>
            </a:r>
            <a:endParaRPr lang="en-US" sz="1000" dirty="0"/>
          </a:p>
        </p:txBody>
      </p:sp>
      <p:sp>
        <p:nvSpPr>
          <p:cNvPr id="42" name="Text 33"/>
          <p:cNvSpPr/>
          <p:nvPr/>
        </p:nvSpPr>
        <p:spPr>
          <a:xfrm>
            <a:off x="457200" y="658368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</a:t>
            </a:r>
            <a:endParaRPr lang="en-US" sz="800" dirty="0"/>
          </a:p>
        </p:txBody>
      </p:sp>
      <p:sp>
        <p:nvSpPr>
          <p:cNvPr id="43" name="Text 34"/>
          <p:cNvSpPr/>
          <p:nvPr/>
        </p:nvSpPr>
        <p:spPr>
          <a:xfrm>
            <a:off x="8076895" y="658368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production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2026-08-13T20:31:36Z</dcterms:created>
  <dcterms:modified xsi:type="dcterms:W3CDTF">2026-08-13T20:31:36Z</dcterms:modified>
</cp:coreProperties>
</file>